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73A"/>
                </a:solidFill>
                <a:latin typeface="Sarabun"/>
              </a:rPr>
              <a:t>Project Pitching Template | วิชาที่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Sarabun"/>
              </a:rPr>
              <a:t>AI Engineering / LLM / RAG / AI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1182319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73A"/>
                </a:solidFill>
                <a:latin typeface="Sarabun"/>
              </a:rPr>
              <a:t>แบบฟอร์มนำเสนอโปรเจคต์ — กรอกข้อมูลให้ครบก่อนส่ง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74552" cy="36576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029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624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Project Topic (หัวข้อ):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63624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Project Knowledge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029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624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Topic Number: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63624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Sarabun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5029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Group Name: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06624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Sarabun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029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054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Date Submitted: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06624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17/06/2026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73A"/>
                </a:solidFill>
                <a:latin typeface="Sarabun"/>
              </a:rPr>
              <a:t>Project Pitching Template | วิชาที่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Sarabun"/>
              </a:rPr>
              <a:t>AI Engineering / LLM / RAG / AI Workflow  •  Overview, problem statement,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1182319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29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1. Project Overview (ภาพรวมโปรเจคต์)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88136"/>
            <a:ext cx="58521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143000"/>
            <a:ext cx="5852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795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Project Title: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8074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Project Knowledge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783080"/>
            <a:ext cx="58521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196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Project Description: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20824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RAG-based Q&amp;A assistant ที่ตอบคำถามจากเอกสารโปรเจคต์ พร้อม citation อ้างอิงแหล่งที่มา เมื่อไม่พบคำตอบในเอกสาร ระบบจะ abstain แทนการเดา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606040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6426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Business Context: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84378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ทีมวิศวกรรมซอฟต์แวร์ที่มีเอกสาร (spec, runbook, ADR, meeting notes) กระจายอยู่หลายที่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40156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2. Problem Statement (ปัญหาที่ต้องแก้ไข)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666744"/>
            <a:ext cx="58521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721608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7581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Current Problem: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959352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ทีม Engineering ค้นหาข้อมูลจากเอกสารหลายไฟล์ด้วยตนเอง ไม่มีระบบกลางในการตอบคำถาม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453128"/>
            <a:ext cx="5852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48970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Impact of Problem: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69087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เสียเวลาค้นหา, ตัดสินใจโดยข้อมูลไม่ครบ, เกิด knowledge gap ในทีม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093208"/>
            <a:ext cx="58521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1297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Proposed Solution: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3309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RAG-based Q&amp;A ที่ตอบจากเอกสารจริง พร้อม citation และไม่ hallucinate เมื่อข้อมูลไม่เพียงพอ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8229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3. Objectives (วัตถุประสงค์) — SMART Goals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088136"/>
            <a:ext cx="58521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133856"/>
            <a:ext cx="5852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Sarabun"/>
              </a:rPr>
              <a:t>ระบุวัตถุประสงค์ 3-5 ข้อ (SMART Goals)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371600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4081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609344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ระบบ ingest เอกสาร .md และ .txt และ query ผลลัพธ์ได้ภายใน 3 วินาที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121408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1579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359152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คำตอบทุกข้อระบุ source_file และ section_heading เป็น citation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871216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9077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3.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ระบบ abstain (ตอบว่า 'ไม่พบข้อมูล') เมื่อ similarity score ต่ำกว่า threshold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621024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6576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858768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รองรับเอกสารทั้งภาษาไทยและอังกฤษผ่าน multilingual-e5-small embedding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370832"/>
            <a:ext cx="58521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40740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608576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Deploy บน Hugging Face Spaces เข้าถึงได้ผ่าน browser โดยไม่ติดตั้งเพิ่ม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230368"/>
            <a:ext cx="5852160" cy="621792"/>
          </a:xfrm>
          <a:prstGeom prst="rect">
            <a:avLst/>
          </a:prstGeom>
          <a:solidFill>
            <a:srgbClr val="FFF7E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294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Sarabun"/>
              </a:rPr>
              <a:t>Tip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29437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24008"/>
                </a:solidFill>
                <a:latin typeface="Sarabun"/>
              </a:rPr>
              <a:t>Use measurable outcomes where possible, e.g., reduce SLA breach detection time or improve report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73A"/>
                </a:solidFill>
                <a:latin typeface="Sarabun"/>
              </a:rPr>
              <a:t>Project Pitching Template | วิชาที่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Sarabun"/>
              </a:rPr>
              <a:t>AI Engineering / LLM / RAG / AI Workflow  •  Scope, AI / LLM / RAG Components,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1182319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2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4. Scope (ขอบเขตโปรเจคต์)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88136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143000"/>
            <a:ext cx="589788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18872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In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589788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18872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Out of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463040"/>
            <a:ext cx="5897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463040"/>
            <a:ext cx="5897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361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Ingest เอกสาร .md และ 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361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Fine-tuning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20240"/>
            <a:ext cx="5897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920240"/>
            <a:ext cx="5897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9933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RAG query พร้อม citation (source_file, section_heading)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933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รองรับไฟล์ PDF, DOCX หรือรูปภาพ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377440"/>
            <a:ext cx="5897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377440"/>
            <a:ext cx="5897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4505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Streamlit chat UI, deploy บน Hugging Face 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50592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User authentication / multi-tenant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33832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5. AI / LLM / RAG Components (องค์ประกอบของระบบ AI)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648456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703320"/>
            <a:ext cx="393192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749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LLM Model 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703320"/>
            <a:ext cx="393192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3749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RAG / Knowledge 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703320"/>
            <a:ext cx="393192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2" y="3749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Agent /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4023360"/>
            <a:ext cx="393192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096512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GPT-4o-mini (GitHub Models,
OpenAI-compatible endpoint)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023360"/>
            <a:ext cx="3931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096512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เอกสาร .md/.txt + ChromaDB
+ intfloat/multilingual-e5-small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023360"/>
            <a:ext cx="393192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4096512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Single-turn Q&amp;A
(no agentic loop)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4818888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864608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1820" y="4818888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4972" y="4864608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AI Processing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818888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53912" y="4864608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Output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9700" y="4818888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02852" y="4864608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Human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5138928"/>
            <a:ext cx="294894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193792"/>
            <a:ext cx="27660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คำถามจากผู้ใช้
ผ่าน Streamlit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31820" y="5138928"/>
            <a:ext cx="29489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23260" y="5193792"/>
            <a:ext cx="27660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Embed คำถาม → ค้นหา top-k chunks
จาก ChromaDB → ส่ง context+คำถามให้ LLM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5138928"/>
            <a:ext cx="294894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5193792"/>
            <a:ext cx="27660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คำตอบ + citation
(source_file, section_heading)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29700" y="5138928"/>
            <a:ext cx="29489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1140" y="5193792"/>
            <a:ext cx="27660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ไม่มี human-in-the-loop
ระบบ abstain อัตโนมัติ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5870448"/>
            <a:ext cx="117957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907024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Hallucination / Risk Mitigation: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108192"/>
            <a:ext cx="11612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ใช้ similarity score threshold — ถ้าต่ำกว่า threshold ตอบ 'ไม่พบข้อมูลในเอกสาร' แทน; system prompt สั่ง LLM ให้ตอบเฉพาะจาก context ที่ให้เท่านั้น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651052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6. Workflow / Architecture (ขั้นตอนการทำงาน)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6775704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73A"/>
                </a:solidFill>
                <a:latin typeface="Sarabun"/>
              </a:rPr>
              <a:t>Project Pitching Template | วิชาที่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Sarabun"/>
              </a:rPr>
              <a:t>AI Engineering / LLM / RAG / AI Workflow  •  Tools, outcomes, timeline,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1182319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2960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Sarabun"/>
              </a:rPr>
              <a:t>อธิบาย flow ของระบบตั้งแต่ต้นจนจบ (Input → Process → Output)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1051560"/>
            <a:ext cx="19659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10972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Step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371600"/>
            <a:ext cx="196596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User อัปโหลด
เอกสาร .md/.txt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37160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Parse + chunk
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371600"/>
            <a:ext cx="196596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Embed chunks
(multilingual-e5-small)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37160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Store embeddings
ใน ChromaDB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371600"/>
            <a:ext cx="196596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User ถามคำถาม
→ embed → top-k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1371600"/>
            <a:ext cx="1965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1426464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LLM สร้างคำตอบ
+ citation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084832"/>
            <a:ext cx="117957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12140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Architecture Notes: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32257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Embedding model โหลดครั้งเดียว (singleton) เพื่อลด latency; ChromaDB persistent path อ่านจาก CHROMA_DB_PATH env var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4231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7. Tools &amp; Technologies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688336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274320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278892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Programming
Language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31820" y="274320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4972" y="278892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Database / Storage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274320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278892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Frameworks /
Libraries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9700" y="274320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02852" y="278892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Visualization /
Output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063240"/>
            <a:ext cx="294894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136392"/>
            <a:ext cx="27660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Python 3.12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1820" y="3063240"/>
            <a:ext cx="29489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23260" y="3136392"/>
            <a:ext cx="27660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ChromaDB
(persistent vector store)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3063240"/>
            <a:ext cx="294894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136392"/>
            <a:ext cx="27660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Streamlit, sentence-transformers,
openai SDK, chromadb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9700" y="3063240"/>
            <a:ext cx="29489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1140" y="3136392"/>
            <a:ext cx="27660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Streamlit web UI
(Hugging Face Spaces)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370332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8. Expected Outcomes (ผลลัพธ์ที่คาดหวัง)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968496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4023360"/>
            <a:ext cx="117957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05993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Deliverables: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26110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Streamlit web app บน Hugging Face Spaces, ingestion pipeline (.md/.txt), RAG Q&amp;A พร้อม citation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17720"/>
            <a:ext cx="117957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65429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173A"/>
                </a:solidFill>
                <a:latin typeface="Sarabun"/>
              </a:rPr>
              <a:t>Success Metrics: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485546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173A"/>
                </a:solidFill>
                <a:latin typeface="Sarabun"/>
              </a:rPr>
              <a:t>Retrieval precision ≥ 80% (manual test set 20 Q&amp;A pairs), abstention ถูกต้องเมื่อถามนอกเอกสาร, response time &lt; 5 วินาที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285232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9. Timeline (แผนการดำเนินงาน)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5550408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557784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032" y="562356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สัปดาห์ที่ 1-2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31820" y="557784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4972" y="562356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สัปดาห์ที่ 3-4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557784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53912" y="562356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สัปดาห์ที่ 5-6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29700" y="5577840"/>
            <a:ext cx="294894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02852" y="5623560"/>
            <a:ext cx="28575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สัปดาห์ที่ 7-8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5897880"/>
            <a:ext cx="294894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952744"/>
            <a:ext cx="27660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RAG query pipeline
+ wire กับ Streamlit 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31820" y="5897880"/>
            <a:ext cx="29489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23260" y="5952744"/>
            <a:ext cx="27660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Chat UI + citation display
+ abstention logic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5897880"/>
            <a:ext cx="294894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5952744"/>
            <a:ext cx="27660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Document upload UI
+ end-to-end testing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29700" y="5897880"/>
            <a:ext cx="29489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21140" y="5952744"/>
            <a:ext cx="27660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173A"/>
                </a:solidFill>
                <a:latin typeface="Sarabun"/>
              </a:rPr>
              <a:t>Evaluation (20 Q&amp;A test set)
+ final deployment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" y="644652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Sarabun"/>
              </a:rPr>
              <a:t>10. Team Members (สมาชิกในกลุ่ม)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6711696"/>
            <a:ext cx="11795760" cy="25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9144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73A"/>
                </a:solidFill>
                <a:latin typeface="Sarabun"/>
              </a:rPr>
              <a:t>Project Pitching Template | วิชาที่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Sarabun"/>
              </a:rPr>
              <a:t>AI Engineering / LLM / RAG / AI Workflow  • 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11823192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14400"/>
            <a:ext cx="45720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60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411480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9601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ชื่อ - นามสกุล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914400"/>
            <a:ext cx="320040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960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รหัสนักศึกษา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914400"/>
            <a:ext cx="4023360" cy="3200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960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arabun"/>
              </a:rPr>
              <a:t>บทบาทใน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34440"/>
            <a:ext cx="4572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258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234440"/>
            <a:ext cx="41148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นาย นราวิชญ์ สมนา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34440"/>
            <a:ext cx="32004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3258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234440"/>
            <a:ext cx="40233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32588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ผู้ให้ requirement และดูภาพรวม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783080"/>
            <a:ext cx="457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8745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178308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87452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นาย ภัทรงค์ สมบัติแก้ว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7830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8745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1783080"/>
            <a:ext cx="4023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87452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ผู้ให้คำแนะนำ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331720"/>
            <a:ext cx="4572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4231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2331720"/>
            <a:ext cx="41148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4231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นาย อภิสิทธิ์ วงศ์วิศิษฐ์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331720"/>
            <a:ext cx="320040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23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2331720"/>
            <a:ext cx="40233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42316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73A"/>
                </a:solidFill>
                <a:latin typeface="Sarabun"/>
              </a:rPr>
              <a:t>ผู้ออกแบบและพัฒนาระบบ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